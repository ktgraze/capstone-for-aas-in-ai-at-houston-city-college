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81"/>
    <p:restoredTop sz="94658"/>
  </p:normalViewPr>
  <p:slideViewPr>
    <p:cSldViewPr snapToGrid="0">
      <p:cViewPr>
        <p:scale>
          <a:sx n="140" d="100"/>
          <a:sy n="140" d="100"/>
        </p:scale>
        <p:origin x="36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9F64C37-BBCD-7D49-90A3-52F2B3681367}" type="datetimeFigureOut">
              <a:rPr lang="en-US" smtClean="0"/>
              <a:t>12/10/24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1321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F64C37-BBCD-7D49-90A3-52F2B3681367}" type="datetimeFigureOut">
              <a:rPr lang="en-US" smtClean="0"/>
              <a:t>12/10/24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1248803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F64C37-BBCD-7D49-90A3-52F2B3681367}" type="datetimeFigureOut">
              <a:rPr lang="en-US" smtClean="0"/>
              <a:t>12/10/24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517276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841203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F64C37-BBCD-7D49-90A3-52F2B3681367}" type="datetimeFigureOut">
              <a:rPr lang="en-US" smtClean="0"/>
              <a:t>12/10/24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366883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F64C37-BBCD-7D49-90A3-52F2B3681367}" type="datetimeFigureOut">
              <a:rPr lang="en-US" smtClean="0"/>
              <a:t>12/10/24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141560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64C37-BBCD-7D49-90A3-52F2B3681367}" type="datetimeFigureOut">
              <a:rPr lang="en-US" smtClean="0"/>
              <a:t>12/10/24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890714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1537448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500455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150979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192153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3890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F64C37-BBCD-7D49-90A3-52F2B3681367}" type="datetimeFigureOut">
              <a:rPr lang="en-US" smtClean="0"/>
              <a:t>12/10/24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3166127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9F64C37-BBCD-7D49-90A3-52F2B3681367}" type="datetimeFigureOut">
              <a:rPr lang="en-US" smtClean="0"/>
              <a:t>12/10/24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253131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9F64C37-BBCD-7D49-90A3-52F2B3681367}" type="datetimeFigureOut">
              <a:rPr lang="en-US" smtClean="0"/>
              <a:t>12/10/24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3028673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F64C37-BBCD-7D49-90A3-52F2B3681367}" type="datetimeFigureOut">
              <a:rPr lang="en-US" smtClean="0"/>
              <a:t>12/10/24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655161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F64C37-BBCD-7D49-90A3-52F2B3681367}" type="datetimeFigureOut">
              <a:rPr lang="en-US" smtClean="0"/>
              <a:t>12/10/24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235B-540B-D043-966F-1C9252FC38FD}" type="slidenum">
              <a:rPr lang="en-US" smtClean="0"/>
              <a:t>‹#›</a:t>
            </a:fld>
            <a:endParaRPr lang="en-US"/>
          </a:p>
        </p:txBody>
      </p:sp>
    </p:spTree>
    <p:extLst>
      <p:ext uri="{BB962C8B-B14F-4D97-AF65-F5344CB8AC3E}">
        <p14:creationId xmlns:p14="http://schemas.microsoft.com/office/powerpoint/2010/main" val="212765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9F64C37-BBCD-7D49-90A3-52F2B3681367}" type="datetimeFigureOut">
              <a:rPr lang="en-US" smtClean="0"/>
              <a:t>12/10/24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56235B-540B-D043-966F-1C9252FC38FD}" type="slidenum">
              <a:rPr lang="en-US" smtClean="0"/>
              <a:t>‹#›</a:t>
            </a:fld>
            <a:endParaRPr lang="en-US"/>
          </a:p>
        </p:txBody>
      </p:sp>
    </p:spTree>
    <p:extLst>
      <p:ext uri="{BB962C8B-B14F-4D97-AF65-F5344CB8AC3E}">
        <p14:creationId xmlns:p14="http://schemas.microsoft.com/office/powerpoint/2010/main" val="1941543275"/>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tgraze/Course-Portfolio-Final-ITAI1378.git" TargetMode="External"/><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uringpost.com/t/The-CV-History" TargetMode="External"/><Relationship Id="rId2" Type="http://schemas.openxmlformats.org/officeDocument/2006/relationships/hyperlink" Target="https://www.turingpost.com/" TargetMode="External"/><Relationship Id="rId1" Type="http://schemas.openxmlformats.org/officeDocument/2006/relationships/slideLayout" Target="../slideLayouts/slideLayout2.xml"/><Relationship Id="rId5" Type="http://schemas.openxmlformats.org/officeDocument/2006/relationships/hyperlink" Target="https://opencv.org/university/free-courses/" TargetMode="External"/><Relationship Id="rId4" Type="http://schemas.openxmlformats.org/officeDocument/2006/relationships/hyperlink" Target="https://opencv.org/"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robot arm in a city&#10;&#10;Description automatically generated">
            <a:extLst>
              <a:ext uri="{FF2B5EF4-FFF2-40B4-BE49-F238E27FC236}">
                <a16:creationId xmlns:a16="http://schemas.microsoft.com/office/drawing/2014/main" id="{7BD61B3B-13AB-7770-890E-68EC992A6691}"/>
              </a:ext>
            </a:extLst>
          </p:cNvPr>
          <p:cNvPicPr>
            <a:picLocks noChangeAspect="1"/>
          </p:cNvPicPr>
          <p:nvPr/>
        </p:nvPicPr>
        <p:blipFill>
          <a:blip r:embed="rId2"/>
          <a:stretch>
            <a:fillRect/>
          </a:stretch>
        </p:blipFill>
        <p:spPr>
          <a:xfrm>
            <a:off x="7962014" y="1967022"/>
            <a:ext cx="3765698" cy="4221126"/>
          </a:xfrm>
          <a:prstGeom prst="rect">
            <a:avLst/>
          </a:prstGeom>
        </p:spPr>
      </p:pic>
      <p:sp>
        <p:nvSpPr>
          <p:cNvPr id="3" name="Subtitle 2">
            <a:extLst>
              <a:ext uri="{FF2B5EF4-FFF2-40B4-BE49-F238E27FC236}">
                <a16:creationId xmlns:a16="http://schemas.microsoft.com/office/drawing/2014/main" id="{35C5E694-B21F-053D-5E6F-473E7C7353DE}"/>
              </a:ext>
            </a:extLst>
          </p:cNvPr>
          <p:cNvSpPr>
            <a:spLocks noGrp="1"/>
          </p:cNvSpPr>
          <p:nvPr>
            <p:ph type="subTitle" idx="1"/>
          </p:nvPr>
        </p:nvSpPr>
        <p:spPr>
          <a:xfrm>
            <a:off x="1803990" y="2610703"/>
            <a:ext cx="6383080" cy="2699849"/>
          </a:xfrm>
        </p:spPr>
        <p:txBody>
          <a:bodyPr>
            <a:normAutofit lnSpcReduction="10000"/>
          </a:bodyPr>
          <a:lstStyle/>
          <a:p>
            <a:pPr algn="l"/>
            <a:r>
              <a:rPr lang="en-US" dirty="0"/>
              <a:t>Katherine Stanton</a:t>
            </a:r>
          </a:p>
          <a:p>
            <a:pPr algn="l"/>
            <a:r>
              <a:rPr lang="en-US" dirty="0"/>
              <a:t>ITAI1378 – Computer Vision</a:t>
            </a:r>
          </a:p>
          <a:p>
            <a:pPr algn="l"/>
            <a:r>
              <a:rPr lang="en-US" dirty="0"/>
              <a:t>December 11, 2024</a:t>
            </a:r>
          </a:p>
          <a:p>
            <a:pPr algn="l"/>
            <a:r>
              <a:rPr lang="en-US" dirty="0" err="1"/>
              <a:t>GitHUb</a:t>
            </a:r>
            <a:r>
              <a:rPr lang="en-US" dirty="0"/>
              <a:t> Repository:</a:t>
            </a:r>
          </a:p>
          <a:p>
            <a:pPr algn="l"/>
            <a:r>
              <a:rPr lang="en-US" dirty="0">
                <a:hlinkClick r:id="rId3"/>
              </a:rPr>
              <a:t>https://github.com/ktgraze/Course-Portfolio-Final-ITAI1378.git</a:t>
            </a:r>
            <a:endParaRPr lang="en-US" dirty="0"/>
          </a:p>
        </p:txBody>
      </p:sp>
      <p:sp>
        <p:nvSpPr>
          <p:cNvPr id="5" name="TextBox 4">
            <a:extLst>
              <a:ext uri="{FF2B5EF4-FFF2-40B4-BE49-F238E27FC236}">
                <a16:creationId xmlns:a16="http://schemas.microsoft.com/office/drawing/2014/main" id="{C2E11C8C-116C-199C-6B02-2CD896711CEA}"/>
              </a:ext>
            </a:extLst>
          </p:cNvPr>
          <p:cNvSpPr txBox="1"/>
          <p:nvPr/>
        </p:nvSpPr>
        <p:spPr>
          <a:xfrm>
            <a:off x="2934586" y="765544"/>
            <a:ext cx="7038754" cy="707886"/>
          </a:xfrm>
          <a:prstGeom prst="rect">
            <a:avLst/>
          </a:prstGeom>
          <a:noFill/>
        </p:spPr>
        <p:txBody>
          <a:bodyPr wrap="square" rtlCol="0">
            <a:spAutoFit/>
          </a:bodyPr>
          <a:lstStyle/>
          <a:p>
            <a:pPr algn="l"/>
            <a:r>
              <a:rPr lang="en-US" sz="4000" dirty="0"/>
              <a:t>Course Portfolio for Fall 2024</a:t>
            </a:r>
          </a:p>
        </p:txBody>
      </p:sp>
    </p:spTree>
    <p:extLst>
      <p:ext uri="{BB962C8B-B14F-4D97-AF65-F5344CB8AC3E}">
        <p14:creationId xmlns:p14="http://schemas.microsoft.com/office/powerpoint/2010/main" val="772446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205B78-9E9B-518F-F61D-753D323513A1}"/>
              </a:ext>
            </a:extLst>
          </p:cNvPr>
          <p:cNvSpPr>
            <a:spLocks noGrp="1"/>
          </p:cNvSpPr>
          <p:nvPr>
            <p:ph idx="1"/>
          </p:nvPr>
        </p:nvSpPr>
        <p:spPr>
          <a:xfrm>
            <a:off x="976423" y="625431"/>
            <a:ext cx="5817781" cy="3308615"/>
          </a:xfrm>
        </p:spPr>
        <p:txBody>
          <a:bodyPr>
            <a:noAutofit/>
          </a:bodyPr>
          <a:lstStyle/>
          <a:p>
            <a:pPr marL="0" indent="0">
              <a:buNone/>
            </a:pPr>
            <a:r>
              <a:rPr lang="en-US" sz="1600" dirty="0"/>
              <a:t>• This portfolio is intended to showcase everything I learned in this course, my individual labs, the skills I built upon, and my contributions to group projects throughout the semester. My GitHub repository is organized by module, with each of the 12 modules assigned its own folder, which contains a file each for all module group assignments, individual labs, and a reflection.</a:t>
            </a:r>
          </a:p>
          <a:p>
            <a:pPr marL="0" indent="0">
              <a:buNone/>
            </a:pPr>
            <a:r>
              <a:rPr lang="en-US" sz="1600" dirty="0"/>
              <a:t>• Key modules that I feel have made a lasting impression include Module 04 – on the fundamentals of Image Processing, Module 06 - an introduction to Basic Neural Networks, and Module 07 - which covers Convolutional Neural Networks, with the accompanying group assignment that called for us to create a Manual CNN. </a:t>
            </a:r>
          </a:p>
          <a:p>
            <a:pPr marL="0" indent="0">
              <a:buNone/>
            </a:pPr>
            <a:r>
              <a:rPr lang="en-US" sz="1600" dirty="0"/>
              <a:t>• This course dramatically improved my proficiency with GitHub, introduced me to new frameworks like </a:t>
            </a:r>
            <a:r>
              <a:rPr lang="en-US" sz="1600" dirty="0" err="1"/>
              <a:t>Keras</a:t>
            </a:r>
            <a:r>
              <a:rPr lang="en-US" sz="1600" dirty="0"/>
              <a:t> and </a:t>
            </a:r>
            <a:r>
              <a:rPr lang="en-US" sz="1600" dirty="0" err="1"/>
              <a:t>PyTorch</a:t>
            </a:r>
            <a:r>
              <a:rPr lang="en-US" sz="1600" dirty="0"/>
              <a:t> and libraries like TensorFlow and challenged me to train my own Computer Vision models on tasks like image classification and object detection.  </a:t>
            </a:r>
          </a:p>
        </p:txBody>
      </p:sp>
      <p:pic>
        <p:nvPicPr>
          <p:cNvPr id="5" name="Picture 4" descr="A screenshot of a computer&#10;&#10;Description automatically generated">
            <a:extLst>
              <a:ext uri="{FF2B5EF4-FFF2-40B4-BE49-F238E27FC236}">
                <a16:creationId xmlns:a16="http://schemas.microsoft.com/office/drawing/2014/main" id="{5BA85C6F-FCE7-D753-D62E-FB9B6DA6A918}"/>
              </a:ext>
            </a:extLst>
          </p:cNvPr>
          <p:cNvPicPr>
            <a:picLocks noChangeAspect="1"/>
          </p:cNvPicPr>
          <p:nvPr/>
        </p:nvPicPr>
        <p:blipFill>
          <a:blip r:embed="rId2"/>
          <a:stretch>
            <a:fillRect/>
          </a:stretch>
        </p:blipFill>
        <p:spPr>
          <a:xfrm>
            <a:off x="6953268" y="1320327"/>
            <a:ext cx="5040257" cy="3388738"/>
          </a:xfrm>
          <a:prstGeom prst="rect">
            <a:avLst/>
          </a:prstGeom>
        </p:spPr>
      </p:pic>
      <p:sp>
        <p:nvSpPr>
          <p:cNvPr id="6" name="TextBox 5">
            <a:extLst>
              <a:ext uri="{FF2B5EF4-FFF2-40B4-BE49-F238E27FC236}">
                <a16:creationId xmlns:a16="http://schemas.microsoft.com/office/drawing/2014/main" id="{2D77F93F-86B2-7D86-5921-916B38368390}"/>
              </a:ext>
            </a:extLst>
          </p:cNvPr>
          <p:cNvSpPr txBox="1"/>
          <p:nvPr/>
        </p:nvSpPr>
        <p:spPr>
          <a:xfrm>
            <a:off x="7421950" y="4827181"/>
            <a:ext cx="4358926" cy="923330"/>
          </a:xfrm>
          <a:prstGeom prst="rect">
            <a:avLst/>
          </a:prstGeom>
          <a:noFill/>
        </p:spPr>
        <p:txBody>
          <a:bodyPr wrap="square" rtlCol="0">
            <a:spAutoFit/>
          </a:bodyPr>
          <a:lstStyle/>
          <a:p>
            <a:r>
              <a:rPr lang="en-US" dirty="0"/>
              <a:t>Screenshot of my GitHub repository’s outer-structure. Each folder contains labeled files of assignments, labs, and reflections.</a:t>
            </a:r>
          </a:p>
        </p:txBody>
      </p:sp>
    </p:spTree>
    <p:extLst>
      <p:ext uri="{BB962C8B-B14F-4D97-AF65-F5344CB8AC3E}">
        <p14:creationId xmlns:p14="http://schemas.microsoft.com/office/powerpoint/2010/main" val="55664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B4C77F-F9D8-F7B5-A330-DAEDAC932254}"/>
              </a:ext>
            </a:extLst>
          </p:cNvPr>
          <p:cNvSpPr txBox="1"/>
          <p:nvPr/>
        </p:nvSpPr>
        <p:spPr>
          <a:xfrm>
            <a:off x="733646" y="690132"/>
            <a:ext cx="5688419" cy="2092881"/>
          </a:xfrm>
          <a:prstGeom prst="rect">
            <a:avLst/>
          </a:prstGeom>
          <a:noFill/>
        </p:spPr>
        <p:txBody>
          <a:bodyPr wrap="square" rtlCol="0">
            <a:spAutoFit/>
          </a:bodyPr>
          <a:lstStyle/>
          <a:p>
            <a:r>
              <a:rPr lang="en-US" sz="1600" u="sng" dirty="0"/>
              <a:t>Module 04 – Fundamentals of Image Processing</a:t>
            </a:r>
          </a:p>
          <a:p>
            <a:endParaRPr lang="en-US" u="sng" dirty="0"/>
          </a:p>
          <a:p>
            <a:pPr marL="285750" indent="-285750">
              <a:buFont typeface="Arial" panose="020B0604020202020204" pitchFamily="34" charset="0"/>
              <a:buChar char="•"/>
            </a:pPr>
            <a:r>
              <a:rPr lang="en-US" sz="1200" dirty="0"/>
              <a:t>The group assignment for this module tasked us with creating a mock interview of image formats (JPEG, PNG, GIF, BMP, and TIFF) discussing their strengths and weaknesses.</a:t>
            </a:r>
          </a:p>
          <a:p>
            <a:pPr marL="285750" indent="-285750">
              <a:buFont typeface="Arial" panose="020B0604020202020204" pitchFamily="34" charset="0"/>
              <a:buChar char="•"/>
            </a:pPr>
            <a:r>
              <a:rPr lang="en-US" sz="1200" dirty="0"/>
              <a:t>This assignment allowed us to work collaboratively and to get creative with our interpretation of the prompt. </a:t>
            </a:r>
          </a:p>
          <a:p>
            <a:pPr marL="285750" indent="-285750">
              <a:buFont typeface="Arial" panose="020B0604020202020204" pitchFamily="34" charset="0"/>
              <a:buChar char="•"/>
            </a:pPr>
            <a:r>
              <a:rPr lang="en-US" sz="1200" dirty="0"/>
              <a:t>This exercise introduced me to working with Canva, designing comic panels, adjusting image layer depth, and most importantly the basics of image formats. </a:t>
            </a:r>
          </a:p>
          <a:p>
            <a:pPr marL="285750" indent="-285750">
              <a:buFont typeface="Arial" panose="020B0604020202020204" pitchFamily="34" charset="0"/>
              <a:buChar char="•"/>
            </a:pPr>
            <a:r>
              <a:rPr lang="en-US" sz="1200" dirty="0"/>
              <a:t>Below is the first panel of the comic.</a:t>
            </a:r>
          </a:p>
        </p:txBody>
      </p:sp>
      <p:sp>
        <p:nvSpPr>
          <p:cNvPr id="5" name="TextBox 4">
            <a:extLst>
              <a:ext uri="{FF2B5EF4-FFF2-40B4-BE49-F238E27FC236}">
                <a16:creationId xmlns:a16="http://schemas.microsoft.com/office/drawing/2014/main" id="{124F6C34-45DE-C9F4-0E44-1BBC608D74E5}"/>
              </a:ext>
            </a:extLst>
          </p:cNvPr>
          <p:cNvSpPr txBox="1"/>
          <p:nvPr/>
        </p:nvSpPr>
        <p:spPr>
          <a:xfrm>
            <a:off x="4910469" y="166912"/>
            <a:ext cx="2371061" cy="523220"/>
          </a:xfrm>
          <a:prstGeom prst="rect">
            <a:avLst/>
          </a:prstGeom>
          <a:noFill/>
        </p:spPr>
        <p:txBody>
          <a:bodyPr wrap="square" rtlCol="0">
            <a:spAutoFit/>
          </a:bodyPr>
          <a:lstStyle/>
          <a:p>
            <a:r>
              <a:rPr lang="en-US" sz="2800" dirty="0"/>
              <a:t>Key Highlights</a:t>
            </a:r>
          </a:p>
        </p:txBody>
      </p:sp>
      <p:pic>
        <p:nvPicPr>
          <p:cNvPr id="7" name="Picture 6" descr="A cartoon of a person sitting at a desk&#10;&#10;Description automatically generated">
            <a:extLst>
              <a:ext uri="{FF2B5EF4-FFF2-40B4-BE49-F238E27FC236}">
                <a16:creationId xmlns:a16="http://schemas.microsoft.com/office/drawing/2014/main" id="{16E8DD94-34B3-EEBF-45F8-683A4D780093}"/>
              </a:ext>
            </a:extLst>
          </p:cNvPr>
          <p:cNvPicPr>
            <a:picLocks noChangeAspect="1"/>
          </p:cNvPicPr>
          <p:nvPr/>
        </p:nvPicPr>
        <p:blipFill>
          <a:blip r:embed="rId2"/>
          <a:srcRect b="50000"/>
          <a:stretch/>
        </p:blipFill>
        <p:spPr>
          <a:xfrm>
            <a:off x="424474" y="2922460"/>
            <a:ext cx="6097657" cy="3429000"/>
          </a:xfrm>
          <a:prstGeom prst="rect">
            <a:avLst/>
          </a:prstGeom>
        </p:spPr>
      </p:pic>
      <p:sp>
        <p:nvSpPr>
          <p:cNvPr id="8" name="TextBox 7">
            <a:extLst>
              <a:ext uri="{FF2B5EF4-FFF2-40B4-BE49-F238E27FC236}">
                <a16:creationId xmlns:a16="http://schemas.microsoft.com/office/drawing/2014/main" id="{4FFB20C4-A29D-E8C6-A70F-8495C2FD660C}"/>
              </a:ext>
            </a:extLst>
          </p:cNvPr>
          <p:cNvSpPr txBox="1"/>
          <p:nvPr/>
        </p:nvSpPr>
        <p:spPr>
          <a:xfrm>
            <a:off x="6985590" y="690132"/>
            <a:ext cx="4781936" cy="2923877"/>
          </a:xfrm>
          <a:prstGeom prst="rect">
            <a:avLst/>
          </a:prstGeom>
          <a:noFill/>
        </p:spPr>
        <p:txBody>
          <a:bodyPr wrap="square" rtlCol="0">
            <a:spAutoFit/>
          </a:bodyPr>
          <a:lstStyle/>
          <a:p>
            <a:r>
              <a:rPr lang="en-US" sz="1600" u="sng" dirty="0"/>
              <a:t>Module 07 – Convolutional Neural Networks</a:t>
            </a:r>
          </a:p>
          <a:p>
            <a:endParaRPr lang="en-US" sz="1200" dirty="0"/>
          </a:p>
          <a:p>
            <a:pPr marL="285750" indent="-285750">
              <a:buFont typeface="Arial" panose="020B0604020202020204" pitchFamily="34" charset="0"/>
              <a:buChar char="•"/>
            </a:pPr>
            <a:r>
              <a:rPr lang="en-US" sz="1200" dirty="0"/>
              <a:t>This module introduced us to the basics of CNNs. For the group assignment we were tasked with making a Manual CNN by creating a simplified image made up of grids (we chose a 5x5 cross image). Each grid either had a 1 or a 0 representing the color white and black, respectively. Next, we created three “filters” that slid across the original image, replicating an actual convolution. </a:t>
            </a:r>
          </a:p>
          <a:p>
            <a:pPr marL="285750" indent="-285750">
              <a:buFont typeface="Arial" panose="020B0604020202020204" pitchFamily="34" charset="0"/>
              <a:buChar char="•"/>
            </a:pPr>
            <a:r>
              <a:rPr lang="en-US" sz="1200" dirty="0"/>
              <a:t>This assignment stands out in my learning journey as a helpful way to understand CNNs by breaking down the process to a molecular level. Replicating the convolutions ourselves and observing how each filter reacts to various features was an enjoyable way to form a greater understanding of CNNs and their importance in the world of Computer Vision.</a:t>
            </a:r>
          </a:p>
          <a:p>
            <a:pPr marL="285750" indent="-285750">
              <a:buFont typeface="Arial" panose="020B0604020202020204" pitchFamily="34" charset="0"/>
              <a:buChar char="•"/>
            </a:pPr>
            <a:r>
              <a:rPr lang="en-US" sz="1200" dirty="0"/>
              <a:t>Below is our original image before filters are applied.  </a:t>
            </a:r>
          </a:p>
        </p:txBody>
      </p:sp>
      <p:pic>
        <p:nvPicPr>
          <p:cNvPr id="14" name="Picture 13" descr="A close-up of a cross-image presentation&#10;&#10;Description automatically generated">
            <a:extLst>
              <a:ext uri="{FF2B5EF4-FFF2-40B4-BE49-F238E27FC236}">
                <a16:creationId xmlns:a16="http://schemas.microsoft.com/office/drawing/2014/main" id="{4C4509D3-21F4-8B71-E89F-C2A39BD407BC}"/>
              </a:ext>
            </a:extLst>
          </p:cNvPr>
          <p:cNvPicPr>
            <a:picLocks noChangeAspect="1"/>
          </p:cNvPicPr>
          <p:nvPr/>
        </p:nvPicPr>
        <p:blipFill>
          <a:blip r:embed="rId3"/>
          <a:stretch>
            <a:fillRect/>
          </a:stretch>
        </p:blipFill>
        <p:spPr>
          <a:xfrm>
            <a:off x="7116609" y="3718559"/>
            <a:ext cx="4519897" cy="2554545"/>
          </a:xfrm>
          <a:prstGeom prst="rect">
            <a:avLst/>
          </a:prstGeom>
        </p:spPr>
      </p:pic>
    </p:spTree>
    <p:extLst>
      <p:ext uri="{BB962C8B-B14F-4D97-AF65-F5344CB8AC3E}">
        <p14:creationId xmlns:p14="http://schemas.microsoft.com/office/powerpoint/2010/main" val="3883964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D993E4-C024-454F-B1B8-684EC3D2F4FB}"/>
              </a:ext>
            </a:extLst>
          </p:cNvPr>
          <p:cNvSpPr txBox="1"/>
          <p:nvPr/>
        </p:nvSpPr>
        <p:spPr>
          <a:xfrm>
            <a:off x="4767943" y="113212"/>
            <a:ext cx="2656114" cy="369332"/>
          </a:xfrm>
          <a:prstGeom prst="rect">
            <a:avLst/>
          </a:prstGeom>
          <a:noFill/>
        </p:spPr>
        <p:txBody>
          <a:bodyPr wrap="square" rtlCol="0">
            <a:spAutoFit/>
          </a:bodyPr>
          <a:lstStyle/>
          <a:p>
            <a:r>
              <a:rPr lang="en-US" dirty="0"/>
              <a:t>Reflections and Resources</a:t>
            </a:r>
          </a:p>
        </p:txBody>
      </p:sp>
      <p:sp>
        <p:nvSpPr>
          <p:cNvPr id="5" name="TextBox 4">
            <a:extLst>
              <a:ext uri="{FF2B5EF4-FFF2-40B4-BE49-F238E27FC236}">
                <a16:creationId xmlns:a16="http://schemas.microsoft.com/office/drawing/2014/main" id="{E527011F-50D0-7E7F-C846-37275D70DBCF}"/>
              </a:ext>
            </a:extLst>
          </p:cNvPr>
          <p:cNvSpPr txBox="1"/>
          <p:nvPr/>
        </p:nvSpPr>
        <p:spPr>
          <a:xfrm>
            <a:off x="1631116" y="854311"/>
            <a:ext cx="8638902" cy="4247317"/>
          </a:xfrm>
          <a:prstGeom prst="rect">
            <a:avLst/>
          </a:prstGeom>
          <a:noFill/>
        </p:spPr>
        <p:txBody>
          <a:bodyPr wrap="square" rtlCol="0">
            <a:spAutoFit/>
          </a:bodyPr>
          <a:lstStyle/>
          <a:p>
            <a:pPr marL="285750" indent="-285750">
              <a:buFont typeface="Arial" panose="020B0604020202020204" pitchFamily="34" charset="0"/>
              <a:buChar char="•"/>
            </a:pPr>
            <a:r>
              <a:rPr lang="en-US" sz="1400" dirty="0"/>
              <a:t>Throughout the course of this semester, I feel as though I have built upon my educational foundation. Beginning with the basics of Computer Vision, from the early days of its history, to current camera and sensor technology. To then going into depth on Basic Neural Networks, Convolutional Neural Networks, Image Processing, Transfer Learning, and Intelligent Agents. My understanding of this sub-field of AI has deepened dramatically.</a:t>
            </a:r>
          </a:p>
          <a:p>
            <a:pPr marL="285750" indent="-285750">
              <a:buFont typeface="Arial" panose="020B0604020202020204" pitchFamily="34" charset="0"/>
              <a:buChar char="•"/>
            </a:pPr>
            <a:r>
              <a:rPr lang="en-US" sz="1400" dirty="0"/>
              <a:t>Some challenges I faced included time management; I struggled at times to manage my workload while taking other classes. Going into this course, my experience with Python was very new, having only been introduced to it through a ML course over the Summer. Now, after completing many more labs and exploring different </a:t>
            </a:r>
            <a:r>
              <a:rPr lang="en-US" sz="1400" dirty="0" err="1"/>
              <a:t>Jupyter</a:t>
            </a:r>
            <a:r>
              <a:rPr lang="en-US" sz="1400" dirty="0"/>
              <a:t> Notebooks/ workshops in depth, I feel that my Python proficiency is slowly improving, a momentum I hope to keep up in the future. Finally, I ran into the problem of a lack of computational resources on occasion and this was a lesson in when to take a sample of a dataset instead of working with the entire dataset and on the limitations of Google </a:t>
            </a:r>
            <a:r>
              <a:rPr lang="en-US" sz="1400" dirty="0" err="1"/>
              <a:t>Colab</a:t>
            </a:r>
            <a:r>
              <a:rPr lang="en-US" sz="1400" dirty="0"/>
              <a:t> free tier vs Pro.</a:t>
            </a:r>
          </a:p>
          <a:p>
            <a:pPr marL="285750" indent="-285750">
              <a:buFont typeface="Arial" panose="020B0604020202020204" pitchFamily="34" charset="0"/>
              <a:buChar char="•"/>
            </a:pPr>
            <a:r>
              <a:rPr lang="en-US" sz="1400" dirty="0"/>
              <a:t>One source I found to be particularly invaluable in my research was </a:t>
            </a:r>
            <a:r>
              <a:rPr lang="en-US" sz="1400" dirty="0">
                <a:hlinkClick r:id="rId2"/>
              </a:rPr>
              <a:t>Turing Post’s </a:t>
            </a:r>
            <a:r>
              <a:rPr lang="en-US" sz="1400" dirty="0"/>
              <a:t>series of articles on the </a:t>
            </a:r>
            <a:r>
              <a:rPr lang="en-US" sz="1400" dirty="0">
                <a:hlinkClick r:id="rId3"/>
              </a:rPr>
              <a:t>History of Computer Vision</a:t>
            </a:r>
            <a:r>
              <a:rPr lang="en-US" sz="1400" dirty="0"/>
              <a:t>. The series is a detailed overview, and I’ve found myself referencing it far past Module 01’s History of CV assignment. The website offers much more - including guides on AI and a series on the History of LLMs. </a:t>
            </a:r>
          </a:p>
          <a:p>
            <a:pPr marL="285750" indent="-285750">
              <a:buFont typeface="Arial" panose="020B0604020202020204" pitchFamily="34" charset="0"/>
              <a:buChar char="•"/>
            </a:pPr>
            <a:r>
              <a:rPr lang="en-US" sz="1400" dirty="0"/>
              <a:t>Last, but not least, I have found </a:t>
            </a:r>
            <a:r>
              <a:rPr lang="en-US" sz="1400" dirty="0">
                <a:hlinkClick r:id="rId4"/>
              </a:rPr>
              <a:t>OpenCV</a:t>
            </a:r>
            <a:r>
              <a:rPr lang="en-US" sz="1400" dirty="0"/>
              <a:t> to be a very handy supplementary tool and educational resource while navigating this course. OpenCV offers </a:t>
            </a:r>
            <a:r>
              <a:rPr lang="en-US" sz="1400" dirty="0">
                <a:hlinkClick r:id="rId5"/>
              </a:rPr>
              <a:t>free courses</a:t>
            </a:r>
            <a:r>
              <a:rPr lang="en-US" sz="1400" dirty="0"/>
              <a:t> to the public, including “OpenCV Bootcamp” and ”TensorFlow 2.0 Bootcamp for Beginners”, which I hope to dive into over Winter break!</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003926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81C0E0-DED3-E610-AD11-A0EC98160EF4}"/>
              </a:ext>
            </a:extLst>
          </p:cNvPr>
          <p:cNvPicPr>
            <a:picLocks noGrp="1" noChangeAspect="1"/>
          </p:cNvPicPr>
          <p:nvPr>
            <p:ph idx="1"/>
          </p:nvPr>
        </p:nvPicPr>
        <p:blipFill>
          <a:blip r:embed="rId2"/>
          <a:stretch>
            <a:fillRect/>
          </a:stretch>
        </p:blipFill>
        <p:spPr>
          <a:xfrm>
            <a:off x="8910764" y="2510653"/>
            <a:ext cx="2506960" cy="3541712"/>
          </a:xfrm>
        </p:spPr>
      </p:pic>
      <p:sp>
        <p:nvSpPr>
          <p:cNvPr id="10" name="TextBox 9">
            <a:extLst>
              <a:ext uri="{FF2B5EF4-FFF2-40B4-BE49-F238E27FC236}">
                <a16:creationId xmlns:a16="http://schemas.microsoft.com/office/drawing/2014/main" id="{BB020EDD-7129-16BA-CD05-9C17880F221A}"/>
              </a:ext>
            </a:extLst>
          </p:cNvPr>
          <p:cNvSpPr txBox="1"/>
          <p:nvPr/>
        </p:nvSpPr>
        <p:spPr>
          <a:xfrm>
            <a:off x="1382748" y="670343"/>
            <a:ext cx="705002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My experience with this course has been challenging but rewarding. I learned how to process images for machine learning, worked with algorithms new to me like, SSD (Single Shot </a:t>
            </a:r>
            <a:r>
              <a:rPr lang="en-US" dirty="0" err="1"/>
              <a:t>Multibox</a:t>
            </a:r>
            <a:r>
              <a:rPr lang="en-US" dirty="0"/>
              <a:t> Detector) and CNN models like VGG (Visual Geometry Group). My proficiency with GitHub has improved and I now feel much more confident working with repositories and collaboratively on the site. </a:t>
            </a:r>
          </a:p>
          <a:p>
            <a:pPr marL="285750" indent="-285750">
              <a:buFont typeface="Arial" panose="020B0604020202020204" pitchFamily="34" charset="0"/>
              <a:buChar char="•"/>
            </a:pPr>
            <a:r>
              <a:rPr lang="en-US" dirty="0"/>
              <a:t>In the future, I hope to only become more comfortable using GitHub, as the chances that my future career in tech will use it is high. I hope to continue to build on my knowledge of Python. Depending on the career path I choose, chances are high that some elements of this course will need to be recalled. For example, if I enter a ML role in the medical field, my prior work with Object Detection models like YOLO (You Only Look Once) and SSDs will certainly come in handy.</a:t>
            </a:r>
          </a:p>
          <a:p>
            <a:pPr marL="285750" indent="-285750">
              <a:buFont typeface="Arial" panose="020B0604020202020204" pitchFamily="34" charset="0"/>
              <a:buChar char="•"/>
            </a:pPr>
            <a:r>
              <a:rPr lang="en-US" dirty="0"/>
              <a:t>Thank you for visiting my portfolio and joining me on this recap of my learning journey!</a:t>
            </a:r>
          </a:p>
        </p:txBody>
      </p:sp>
      <p:sp>
        <p:nvSpPr>
          <p:cNvPr id="11" name="TextBox 10">
            <a:extLst>
              <a:ext uri="{FF2B5EF4-FFF2-40B4-BE49-F238E27FC236}">
                <a16:creationId xmlns:a16="http://schemas.microsoft.com/office/drawing/2014/main" id="{1856703C-738B-8AB4-CF45-AADF0BC5C481}"/>
              </a:ext>
            </a:extLst>
          </p:cNvPr>
          <p:cNvSpPr txBox="1"/>
          <p:nvPr/>
        </p:nvSpPr>
        <p:spPr>
          <a:xfrm>
            <a:off x="9201494" y="995411"/>
            <a:ext cx="1925501" cy="369332"/>
          </a:xfrm>
          <a:prstGeom prst="rect">
            <a:avLst/>
          </a:prstGeom>
          <a:noFill/>
        </p:spPr>
        <p:txBody>
          <a:bodyPr wrap="square" rtlCol="0">
            <a:spAutoFit/>
          </a:bodyPr>
          <a:lstStyle/>
          <a:p>
            <a:r>
              <a:rPr lang="en-US" dirty="0"/>
              <a:t>GitHub Repository </a:t>
            </a:r>
          </a:p>
        </p:txBody>
      </p:sp>
      <p:sp>
        <p:nvSpPr>
          <p:cNvPr id="12" name="Down Arrow 11">
            <a:extLst>
              <a:ext uri="{FF2B5EF4-FFF2-40B4-BE49-F238E27FC236}">
                <a16:creationId xmlns:a16="http://schemas.microsoft.com/office/drawing/2014/main" id="{8FED1C39-C6CB-8EED-7E1C-A15C85C5DDA3}"/>
              </a:ext>
            </a:extLst>
          </p:cNvPr>
          <p:cNvSpPr/>
          <p:nvPr/>
        </p:nvSpPr>
        <p:spPr>
          <a:xfrm>
            <a:off x="9935644" y="1475926"/>
            <a:ext cx="457200" cy="9235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944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1053</TotalTime>
  <Words>991</Words>
  <Application>Microsoft Macintosh PowerPoint</Application>
  <PresentationFormat>Widescreen</PresentationFormat>
  <Paragraphs>31</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Circuit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katherine.stanton-W210361913</dc:creator>
  <cp:lastModifiedBy>katherine.stanton-W210361913</cp:lastModifiedBy>
  <cp:revision>4</cp:revision>
  <dcterms:created xsi:type="dcterms:W3CDTF">2024-12-09T21:05:58Z</dcterms:created>
  <dcterms:modified xsi:type="dcterms:W3CDTF">2024-12-11T21:02:51Z</dcterms:modified>
</cp:coreProperties>
</file>